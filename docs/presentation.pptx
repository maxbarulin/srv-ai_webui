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548640"/>
            <a:ext cx="384048" cy="384048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48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9848" y="512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ОСК</a:t>
            </a:r>
            <a:endParaRPr lang="en-US" sz="1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300" kern="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АДМИРАЛТЕЙСКИЕ ВЕРФИ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100" kern="0" dirty="0">
                <a:solidFill>
                  <a:srgbClr val="EEF1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SRV-AI </a:t>
            </a:r>
            <a:pPr algn="l" indent="0" marL="0">
              <a:buNone/>
            </a:pPr>
            <a:r>
              <a:rPr lang="en-US" sz="5200" b="1" spc="100" kern="0" dirty="0">
                <a:solidFill>
                  <a:srgbClr val="E5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5200" b="1" spc="100" kern="0" dirty="0">
                <a:solidFill>
                  <a:srgbClr val="EEF1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РАБОЧЕЕ МЕСТО ИИ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Локальная языковая модель на рабочем месте нормировщика: методики хранятся в заметках, расчёты выполняет инструмент, ход вычислений виден и проверяем. Целиком в закрытом контуре предприятия.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4480560"/>
            <a:ext cx="1667866" cy="402336"/>
          </a:xfrm>
          <a:prstGeom prst="rect">
            <a:avLst/>
          </a:prstGeom>
          <a:solidFill>
            <a:srgbClr val="1E2A33"/>
          </a:solidFill>
          <a:ln w="12700">
            <a:solidFill>
              <a:srgbClr val="3A46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480560"/>
            <a:ext cx="16678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7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ИНТЕРНЕТА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08530" y="4480560"/>
            <a:ext cx="1766621" cy="402336"/>
          </a:xfrm>
          <a:prstGeom prst="rect">
            <a:avLst/>
          </a:prstGeom>
          <a:solidFill>
            <a:srgbClr val="BE1E2D"/>
          </a:solidFill>
          <a:ln w="12700">
            <a:solidFill>
              <a:srgbClr val="BE1E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8530" y="4480560"/>
            <a:ext cx="176662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ТОЧНЫЕ РАСЧЁТЫ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21454" y="4480560"/>
            <a:ext cx="1667866" cy="402336"/>
          </a:xfrm>
          <a:prstGeom prst="rect">
            <a:avLst/>
          </a:prstGeom>
          <a:solidFill>
            <a:srgbClr val="1E2A33"/>
          </a:solidFill>
          <a:ln w="12700">
            <a:solidFill>
              <a:srgbClr val="3A46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1454" y="4480560"/>
            <a:ext cx="16678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7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ОТДЕЛЫ И РОЛИ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35624" y="4480560"/>
            <a:ext cx="1371600" cy="402336"/>
          </a:xfrm>
          <a:prstGeom prst="rect">
            <a:avLst/>
          </a:prstGeom>
          <a:solidFill>
            <a:srgbClr val="1E2A33"/>
          </a:solidFill>
          <a:ln w="12700">
            <a:solidFill>
              <a:srgbClr val="3A46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5624" y="44805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7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 ПДН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53528" y="4480560"/>
            <a:ext cx="1569110" cy="402336"/>
          </a:xfrm>
          <a:prstGeom prst="rect">
            <a:avLst/>
          </a:prstGeom>
          <a:solidFill>
            <a:srgbClr val="1E2A33"/>
          </a:solidFill>
          <a:ln w="12700">
            <a:solidFill>
              <a:srgbClr val="3A46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53528" y="4480560"/>
            <a:ext cx="15691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7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АУДИТ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разделена на два блока: для руководства и для технических специалистов.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4360" y="61447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АО «Адмиралтейские верфи» · ОСК   |   август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5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EEF1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РУКОВОДСТВА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94360" y="32004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отделу, как меняется работа нормировщика и что предприятие получает уже сегодня.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4251960"/>
            <a:ext cx="128016" cy="128016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1605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процесс: методика → запрос → расчёт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" y="4709160"/>
            <a:ext cx="128016" cy="128016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6177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Выигрыши и разграничение по отделам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5166360"/>
            <a:ext cx="128016" cy="128016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50749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сегодня и что даст ускоритель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" y="5623560"/>
            <a:ext cx="128016" cy="128016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5321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проверено на приёмке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«СПРОСИЛ У МОДЕЛИ» К РАБОЧЕМУ ИНСТРУМЕНТУ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43400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Штатный веб-интерфейс llama.cpp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входа по паролю и разграничения людей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журнала — кто что спрашивал, неизвестно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Методики живут в личных файлах и в головах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модель считает «в уме» и ошибается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отвечает требованиям информационной безопасности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49240" cy="4343400"/>
          </a:xfrm>
          <a:prstGeom prst="rect">
            <a:avLst/>
          </a:prstGeom>
          <a:solidFill>
            <a:srgbClr val="FBEDEE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0" y="22402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место отдела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301752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паролю, роли, разграничение по отделам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Методики отдела — в общих заметках, одни для всех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выполняет инструмент по вашей формуле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Виден ход вычислений: из чего получено каждое число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аудит действий, фильтр персональных данных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60020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СКЛАДЫВАЕТСЯ В РАБОТУ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E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инструмента по отдельности — просто удобства. Вместе они закрывают рабочий цикл нормировщика.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03504" cy="6035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2112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ЗАМЕТКА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25880" y="238658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Нормировщик один раз кладёт методику в общую заметку отдела — с формулами и допусками.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603504" cy="6035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181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30815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25880" y="33558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чате: «возьми методику из заметок, фреза D=80, z=8 — проверь подачу на зуб».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603504" cy="6035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873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0507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25880" y="43251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находит заметку, читает её и передаёт числа инструменту расчётов.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056632"/>
            <a:ext cx="603504" cy="6035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566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50200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25880" y="529437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исходных данных, результат и ход расчёта — видно, из какой формулы получено число.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16752" y="1380744"/>
            <a:ext cx="5696712" cy="294231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0"/>
            </a:solidFill>
            <a:prstDash val="solid"/>
          </a:ln>
          <a:effectLst>
            <a:outerShdw sx="100000" sy="100000" kx="0" ky="0" algn="bl" rotWithShape="0" blurRad="114300" dist="50800" dir="5400000">
              <a:srgbClr val="1E2A33">
                <a:alpha val="28000"/>
              </a:srgbClr>
            </a:outerShdw>
          </a:effectLst>
        </p:spPr>
      </p:sp>
      <p:pic>
        <p:nvPicPr>
          <p:cNvPr id="22" name="Image 0" descr="/home/user/srv-ai_webUI/docs/presentation-src/shots/12_cal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53328" y="1417320"/>
            <a:ext cx="5623560" cy="2869163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053328" y="443484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модели: слева плашка с ходом расчёта, ниже — таблица исходных данных и результат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ВЫИГРЫШ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ПРЕДПРИЯТИЕ ПОЛУЧАЕТ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75304" cy="1993392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57400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951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Методика перестаёт быть личной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807208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 отдела лежат в общей заметке. Уходит человек — методика остаётся.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575304" cy="1993392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2057400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22951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не на совести модели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53712" y="2807208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Формулу задаёт нормировщик, считает инструмент. Модель только подставляет значения.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575304" cy="1993392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2057400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22951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можно защитить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2807208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ответе виден каждый шаг: формула, значение, единица. Есть что показать проверяющему.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575304" cy="1993392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270248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5079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сотрудник с первого дня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5020056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по тем же методикам, что и весь отдел, без наставника за плечом.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3995928"/>
            <a:ext cx="3575304" cy="1993392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3712" y="4270248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22" name="Text 20"/>
          <p:cNvSpPr/>
          <p:nvPr/>
        </p:nvSpPr>
        <p:spPr>
          <a:xfrm>
            <a:off x="4553712" y="45079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окно вместо трёх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53712" y="5020056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Заметки и календарь ведутся из чата обычной фразой — без переключения программ.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3995928"/>
            <a:ext cx="3575304" cy="1993392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02752" y="4270248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752" y="45079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не покидают контур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02752" y="5020056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запрос не уходит в интернет. Переписка каждого видна только ему.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60020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 С ЛОКАЛЬНОЙ МОДЕЛЬЮ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Потоковый ответ, как в привычных сервисах, — только модель стоит в серверной предприятия.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Размышления модели — в сворачиваемом блоке, видно ход мысли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с таблицами и кодом, формулы LaTeX — как в нормативной документации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ответом: токены, скорость, время; внизу — объём переписки в % контекста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Действия: продолжить, перегенерировать, отредактировать вопрос, удалить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16752" y="1444752"/>
            <a:ext cx="5696712" cy="360796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0"/>
            </a:solidFill>
            <a:prstDash val="solid"/>
          </a:ln>
          <a:effectLst>
            <a:outerShdw sx="100000" sy="100000" kx="0" ky="0" algn="bl" rotWithShape="0" blurRad="114300" dist="50800" dir="5400000">
              <a:srgbClr val="1E2A33">
                <a:alpha val="28000"/>
              </a:srgbClr>
            </a:outerShdw>
          </a:effectLst>
        </p:spPr>
      </p:sp>
      <p:pic>
        <p:nvPicPr>
          <p:cNvPr id="7" name="Image 0" descr="/home/user/srv-ai_webUI/docs/presentation-src/shots/02_chat_answ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53328" y="1481328"/>
            <a:ext cx="5623560" cy="35348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60020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ЗАМЕТКИ И КАЛЕНДАРЬ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Личные и общие записи отдела. Модель ведёт их по обычной фразе: «создай заметку с методикой», «что у меня на неделе», «перенеси совещание на четверг». Изменение и удаление — только по подтверждению, и в плашке написано, что именно меняется.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12064" y="2249424"/>
            <a:ext cx="5422392" cy="34355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0"/>
            </a:solidFill>
            <a:prstDash val="solid"/>
          </a:ln>
          <a:effectLst>
            <a:outerShdw sx="100000" sy="100000" kx="0" ky="0" algn="bl" rotWithShape="0" blurRad="114300" dist="50800" dir="5400000">
              <a:srgbClr val="1E2A33">
                <a:alpha val="28000"/>
              </a:srgbClr>
            </a:outerShdw>
          </a:effectLst>
        </p:spPr>
      </p:sp>
      <p:pic>
        <p:nvPicPr>
          <p:cNvPr id="6" name="Image 0" descr="/home/user/srv-ai_webUI/docs/presentation-src/shots/05_no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286000"/>
            <a:ext cx="5349240" cy="336237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54496" y="2249424"/>
            <a:ext cx="5422392" cy="34355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0"/>
            </a:solidFill>
            <a:prstDash val="solid"/>
          </a:ln>
          <a:effectLst>
            <a:outerShdw sx="100000" sy="100000" kx="0" ky="0" algn="bl" rotWithShape="0" blurRad="114300" dist="50800" dir="5400000">
              <a:srgbClr val="1E2A33">
                <a:alpha val="28000"/>
              </a:srgbClr>
            </a:outerShdw>
          </a:effectLst>
        </p:spPr>
      </p:sp>
      <p:pic>
        <p:nvPicPr>
          <p:cNvPr id="8" name="Image 1" descr="/home/user/srv-ai_webUI/docs/presentation-src/shots/06_calend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91072" y="2286000"/>
            <a:ext cx="5349240" cy="33623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5739819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ЗАМЕТКИ · методики отдела, поиск по тэгам, экспорт в PDF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291072" y="5739819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КАЛЕНДАРЬ · общие события отдела помечены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60020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ОТДЕЛЫ И БЮРО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система на предприятие — но общие записи не смешиваются между подразделениями.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заводит отделы и приписывает к ним сотрудников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заметка бюро нормирования не видна механосборочному цеху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без отдела видит все общие записи — это роль методолога или руководителя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действует и в интерфейсе, и в инструментах модели — обойти нельзя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16752" y="1444752"/>
            <a:ext cx="5696712" cy="294231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0"/>
            </a:solidFill>
            <a:prstDash val="solid"/>
          </a:ln>
          <a:effectLst>
            <a:outerShdw sx="100000" sy="100000" kx="0" ky="0" algn="bl" rotWithShape="0" blurRad="114300" dist="50800" dir="5400000">
              <a:srgbClr val="1E2A33">
                <a:alpha val="28000"/>
              </a:srgbClr>
            </a:outerShdw>
          </a:effectLst>
        </p:spPr>
      </p:sp>
      <p:pic>
        <p:nvPicPr>
          <p:cNvPr id="7" name="Image 0" descr="/home/user/srv-ai_webUI/docs/presentation-src/shots/13_grou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53328" y="1481328"/>
            <a:ext cx="5623560" cy="28691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60020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ПЕРСОНАЛЬНЫЕ ДАННЫЕ НЕ УХОДЯТ В МОДЕЛЬ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E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Маскирование срабатывает ДО отправки в модель и ДО записи в историю чатов.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Телефоны, e-mail, СНИЛС, ИНН, паспорт, номера карт и счетов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 — по правилам русского языка, без внешних сервисов и без интернета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Белый список для нормативки: подписанты документов не маскируются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модель уходит уже очищенный текст — исходные значения в неё не попадают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16752" y="1444752"/>
            <a:ext cx="5696712" cy="360796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0"/>
            </a:solidFill>
            <a:prstDash val="solid"/>
          </a:ln>
          <a:effectLst>
            <a:outerShdw sx="100000" sy="100000" kx="0" ky="0" algn="bl" rotWithShape="0" blurRad="114300" dist="50800" dir="5400000">
              <a:srgbClr val="1E2A33">
                <a:alpha val="28000"/>
              </a:srgbClr>
            </a:outerShdw>
          </a:effectLst>
        </p:spPr>
      </p:sp>
      <p:pic>
        <p:nvPicPr>
          <p:cNvPr id="7" name="Image 0" descr="/home/user/srv-ai_webUI/docs/presentation-src/shots/04_pi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53328" y="1481328"/>
            <a:ext cx="5623560" cy="35348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СЕГОДНЯ И ЗАПАС НА ЗАВТРА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43400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 · НА ПРОЦЕССОРЕ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67712"/>
            <a:ext cx="4709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≈20</a:t>
            </a:r>
            <a:pPr indent="0" marL="0">
              <a:buNone/>
            </a:pPr>
            <a:r>
              <a:rPr lang="en-US" sz="17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токенов/с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по методике — ответ около минуты</a:t>
            </a:r>
            <a:endParaRPr lang="en-US" sz="13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Развёрнутая справка по нормативу — две-три минуты</a:t>
            </a:r>
            <a:endParaRPr lang="en-US" sz="13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без видеокарты: модель MoE, из 35 млрд параметров активны 3 млрд</a:t>
            </a:r>
            <a:endParaRPr lang="en-US" sz="13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Параллельные запросы разводит сама llama.cpp: число слотов задаётся её параметром -np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30952" cy="4343400"/>
          </a:xfrm>
          <a:prstGeom prst="rect">
            <a:avLst/>
          </a:prstGeom>
          <a:solidFill>
            <a:srgbClr val="FBEDEE"/>
          </a:solidFill>
          <a:ln w="12700">
            <a:solidFill>
              <a:srgbClr val="BE1E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920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ЗАВТРА · С УСКОРИТЕЛЕМ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0" y="2267712"/>
            <a:ext cx="4690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секунды</a:t>
            </a:r>
            <a:pPr indent="0" marL="0">
              <a:buNone/>
            </a:pPr>
            <a:r>
              <a:rPr lang="en-US" sz="15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вместо минут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629400" y="3291840"/>
            <a:ext cx="46908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генерации на видеоускоритель — самое дешёвое ускорение из возможных</a:t>
            </a:r>
            <a:endParaRPr lang="en-US" sz="13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строки в приложении менять не нужно: это параметр запуска модели</a:t>
            </a:r>
            <a:endParaRPr lang="en-US" sz="13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расчёт — секунды вместо минуты; больше одновременных пользователей</a:t>
            </a:r>
            <a:endParaRPr lang="en-US" sz="13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Возможен и запас по контексту: длинные нормативные документы целиком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измеряется самим сервером и видна под каждым ответом — оценивать «на глаз» не нужно.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УЖЕ РАБОТАЕТ НА ПРИЁМКЕ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37944"/>
            <a:ext cx="256032" cy="256032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37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4128" y="1783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«Возьми методику из заметок и посчитай подачу на зуб» → модель находит заметку, считает инструментом, показывает ход расчёта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596896"/>
            <a:ext cx="256032" cy="256032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" y="25420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Чужие личные заметки и события недоступны ни через интерфейс, ни через API, ни через инструменты модели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355848"/>
            <a:ext cx="256032" cy="256032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355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4128" y="330098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заметка одного бюро не видна другому; сотрудник без отдела видит все общие записи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4114800"/>
            <a:ext cx="256032" cy="256032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4128" y="405993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«Создай на завтра совещание и заметку с повесткой» → событие и заметка появляются без ручных действий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873752"/>
            <a:ext cx="256032" cy="256032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873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4128" y="481888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события и публикация личной заметки на отдел — только после подтверждения в интерфейсе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5632704"/>
            <a:ext cx="256032" cy="256032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5632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24128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выключенном интернете всё работает после офлайн-установки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5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EEF1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ТЕХНИЧЕСКИХ СПЕЦИАЛИСТОВ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94360" y="32004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всё устроено, на чём работает и что настраивается. Дальше — только техника.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4251960"/>
            <a:ext cx="128016" cy="128016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1605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развёртывания и порты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" y="4709160"/>
            <a:ext cx="128016" cy="128016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6177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Модель, сэмплинг и вызов инструментов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5166360"/>
            <a:ext cx="128016" cy="128016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50749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 расчётов и справочник методик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" y="5623560"/>
            <a:ext cx="128016" cy="128016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5321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Безопасность, эксплуатация, документация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ПРОЕКТА: СЕЙЧАС И ЦЕЛЕВАЯ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 · ОПЫТНАЯ ЭКСПЛУАТАЦИЯ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93268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57984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СОТРУДНИКА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9808" y="246888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 IP-адресу сервера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 сети предприятия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9992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E1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  HTTP :8001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5394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E1E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456432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SRV-AI WEBUI  ·  0.0.0.0:8001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3767328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uvicorn, SQLite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вход по паролю, роли, аудит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E1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  HTTP :8000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608576"/>
            <a:ext cx="5394960" cy="93268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754880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LLAMA.CPP  ·  :8000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" y="5065776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Qwen3.6-35B-A3B, CPU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OpenAI-совместимый API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5669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порта пока слушают сетевой интерфейс — удобно для отладки.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6459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· ПРОМЫШЛЕННАЯ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011680"/>
            <a:ext cx="5330952" cy="93268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2157984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СОТРУДНИКА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10528" y="2468880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 доменному имени,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 через обратный прокси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299923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E1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  единственная дверь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310128"/>
            <a:ext cx="533095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E1E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3456432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SRV-AI WEBUI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0528" y="3767328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единственный порт наружу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всё остальное — за ним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429768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E1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  127.0.0.1 только локально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608576"/>
            <a:ext cx="5330952" cy="93268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4754880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LLAMA.CPP + БАЗА ЗНАНИЙ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10528" y="5065776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 — из сети недоступны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обращение только через UI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9360" y="5669280"/>
            <a:ext cx="5330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BE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закрывается на localhost: обратиться к ней в обход интерфейса, без пароля и аудита, станет невозможно.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LLAMA.CPP + QWEN3.6 ПОД КАПОТОМ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207008"/>
          </a:xfrm>
          <a:prstGeom prst="rect">
            <a:avLst/>
          </a:prstGeom>
          <a:solidFill>
            <a:srgbClr val="24313B"/>
          </a:solidFill>
          <a:ln w="12700">
            <a:solidFill>
              <a:srgbClr val="BE1E2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Qwen3.6-35B-A3B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GGUF, квант UD-Q8_K_XL  ·  контекст 262 144 токена на два слота — по 131 072 на пользователя  · 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мультимодальная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(mmproj): читает чертежи и сканы. Работает на процессоре, без видеокарты.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—"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--jinja — шаблон чата берётся из самого GGUF; в нём же зашит формат вызова инструментов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—"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--reasoning-format deepseek — размышления приходят отдельным полем, а не внутри ответа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—"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--mmproj — зрение: чертежи, сканы, PDF как картинка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—"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--no-webui — штатный интерфейс llama.cpp выключен, работает только наш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45352" y="315468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—"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Сэмплинг — по карточке модели: temp 1.0, top-p 0.95, top-k 20, presence-penalty 1.5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—"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preserve_thinking — модель получает обратно своё размышление и не передумывает заново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—"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-np 2 — два слота: два сотрудника считаются одновременно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—"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разбирает вызов инструмента в трёх формах — страховка от срывов формата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60020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 РАСЧЁТОВ ИЗНУТРИ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 считает сама: она передаёт формулу и числа, вычисляет приложение.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Вычислитель на разборе выражения — без eval, из песочницы не выйти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Пределы на степень, длину и глубину формулы: «бомба» вида 9**9**9 отбивается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 методик: формулы задаёт администратор, модель только подставляет числа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цепочка — за один вызов: промежуточные числа не переписываются вручную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настраивается: выключен / только администраторам / всем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16752" y="1444752"/>
            <a:ext cx="5696712" cy="294231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0"/>
            </a:solidFill>
            <a:prstDash val="solid"/>
          </a:ln>
          <a:effectLst>
            <a:outerShdw sx="100000" sy="100000" kx="0" ky="0" algn="bl" rotWithShape="0" blurRad="114300" dist="50800" dir="5400000">
              <a:srgbClr val="1E2A33">
                <a:alpha val="28000"/>
              </a:srgbClr>
            </a:outerShdw>
          </a:effectLst>
        </p:spPr>
      </p:sp>
      <p:pic>
        <p:nvPicPr>
          <p:cNvPr id="7" name="Image 0" descr="/home/user/srv-ai_webUI/docs/presentation-src/shots/14_metho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53328" y="1481328"/>
            <a:ext cx="5623560" cy="28691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ВЕКТОРНЫЙ ПОИСК: ГОТОВ, СЕЙЧАС ОТКЛЮЧЁН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777240"/>
          </a:xfrm>
          <a:prstGeom prst="rect">
            <a:avLst/>
          </a:prstGeom>
          <a:solidFill>
            <a:srgbClr val="FBEDEE"/>
          </a:solidFill>
          <a:ln w="12700">
            <a:solidFill>
              <a:srgbClr val="BE1E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Статус: </a:t>
            </a:r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реализован и протестирован, но в текущей конфигурации </a:t>
            </a:r>
            <a:pPr indent="0" marL="0">
              <a:buNone/>
            </a:pPr>
            <a:r>
              <a:rPr lang="en-US" sz="1400" b="1" dirty="0">
                <a:solidFill>
                  <a:srgbClr val="BE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выключен</a:t>
            </a:r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(RAG_ENABLED=false). Включается одной строкой в настройке, без правки кода.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УСТРОЕНО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LightRAG + эмбеддинги bge-m3, оба на этом же сервере</a:t>
            </a:r>
            <a:endParaRPr lang="en-US" sz="13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Тумблер «База знаний» в параметрах чата у каждого пользователя</a:t>
            </a:r>
            <a:endParaRPr lang="en-US" sz="13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Найденный контекст подставляется к вопросу и показывается плашкой «Источники»</a:t>
            </a:r>
            <a:endParaRPr lang="en-US" sz="13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Недоступность базы не роняет чат — обычный режим продолжает работать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ДАСТ ВКЛЮЧЕНИЕ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3063240"/>
            <a:ext cx="533095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со ссылкой на нормативную базу предприятия, а не по общим знаниям модели</a:t>
            </a:r>
            <a:endParaRPr lang="en-US" sz="13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смыслу, а не по точному слову: найдёт нужный пункт СТО без цитаты</a:t>
            </a:r>
            <a:endParaRPr lang="en-US" sz="13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Заметки останутся для методик отдела, база знаний — для нормативки предприятия</a:t>
            </a:r>
            <a:endParaRPr lang="en-US" sz="13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наполнения: документы надо загрузить и проиндексировать — это отдельная работа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ИНФОРМАЦИОННАЯ БЕЗОПАСНОСТЬ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ЗАЛОЖЕНО В КОНСТРУКЦИЮ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79192" cy="2011680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11680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49424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Закрытый контур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761488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Исходящего трафика нет: только адреса модели и базы знаний внутри сети.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1568" y="1737360"/>
            <a:ext cx="2679192" cy="2011680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011680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249424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Обязательный вход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761488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Самостоятельной регистрации нет, учётные записи заводит администратор.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4496" y="1737360"/>
            <a:ext cx="2679192" cy="2011680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0528" y="2011680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2249424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Разграничение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0528" y="2761488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Чужие личные данные недоступны ни через API, ни через инструменты модели.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07424" y="1737360"/>
            <a:ext cx="2679192" cy="2011680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63456" y="2011680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8" name="Text 16"/>
          <p:cNvSpPr/>
          <p:nvPr/>
        </p:nvSpPr>
        <p:spPr>
          <a:xfrm>
            <a:off x="9363456" y="2249424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без содержания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63456" y="2761488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Пишется кто и что сделал; тексты запросов и пароли в журнал не попадают.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2679192" cy="2011680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242816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4805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интерфейса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4992624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Экранирование HTML, CSRF, X-Frame-Options, CSP; параметризованные запросы.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01568" y="3968496"/>
            <a:ext cx="2679192" cy="2011680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4242816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44805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Обозримый код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0" y="4992624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 без сборки, минимум зависимостей — код можно прочитать глазами.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54496" y="3968496"/>
            <a:ext cx="2679192" cy="2011680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0528" y="4242816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30" name="Text 28"/>
          <p:cNvSpPr/>
          <p:nvPr/>
        </p:nvSpPr>
        <p:spPr>
          <a:xfrm>
            <a:off x="6510528" y="44805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Шифрование базы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10528" y="4992624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 по флагу; автоочистка старых чатов по сроку хранения.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07424" y="3968496"/>
            <a:ext cx="2679192" cy="2011680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63456" y="4242816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34" name="Text 32"/>
          <p:cNvSpPr/>
          <p:nvPr/>
        </p:nvSpPr>
        <p:spPr>
          <a:xfrm>
            <a:off x="9363456" y="44805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Подтверждение действий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63456" y="4992624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и правка через модель требуют явного согласия человека.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60020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АДМИНИСТРИРОВАНИЕ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вкладок: пользователи, отделы, чат, расчёты, аналитика, аудит.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Пользователи: создание, отдел, блокировка, сброс пароля, удаление с каскадом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Чат: специализации (Механообработка, Сварка, Литьё…) и примеры запросов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Расчёты: кому доступен инструмент и справочник методик предприятия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Аналитика: запросы, успех/неуспех, токены/с, срабатывания фильтра ПДн по типам</a:t>
            </a:r>
            <a:endParaRPr lang="en-US" sz="145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Аудит: входы, действия с пользователями, вызовы инструментов, удаления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16752" y="1444752"/>
            <a:ext cx="5696712" cy="360796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0"/>
            </a:solidFill>
            <a:prstDash val="solid"/>
          </a:ln>
          <a:effectLst>
            <a:outerShdw sx="100000" sy="100000" kx="0" ky="0" algn="bl" rotWithShape="0" blurRad="114300" dist="50800" dir="5400000">
              <a:srgbClr val="1E2A33">
                <a:alpha val="28000"/>
              </a:srgbClr>
            </a:outerShdw>
          </a:effectLst>
        </p:spPr>
      </p:sp>
      <p:pic>
        <p:nvPicPr>
          <p:cNvPr id="7" name="Image 0" descr="/home/user/srv-ai_webUI/docs/presentation-src/shots/10_admin_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53328" y="1481328"/>
            <a:ext cx="5623560" cy="35348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ЭКСПЛУАТАЦИЯ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СТЕК, ОБНОВЛЕНИЕ, ДОКУМЕНТАЦИЯ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5394960" cy="178308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139696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EF1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[Браузер] ──HTTP──▶ [FastAPI :8001]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EF1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 /api/chats ─SSE─▶ llama.cpp :8000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EF1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 /api/rag  ──────▶ LightRAG (выкл.)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EF1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 SQLite (люди, чаты, заметки, …)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EF1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 статика: html, css, js, шрифты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950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3.10+, FastAPI, uvicorn, httpx, aiosqlite, bcrypt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Документы: python-docx, openpyxl, pypdf, Pillow, pypdfium2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 — статические HTML/CSS/JS без сборки, для аудита ИБ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процесс, одна база-файл: разворачивается без контейнеров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6459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ЭКСПЛУАТАЦИЯ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1993392"/>
            <a:ext cx="533095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--user + linger — автозапуск после перезагрузки, root не нужен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Обновление: git pull и перезапуск службы; миграции базы идут сами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— один файл .env: адреса моделей, лимиты, фильтр ПДн, шифрование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Бэкап — копия одного файла базы (скрипт в deploy/)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 в репозитории: развёртывание, эксплуатация, приватность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справочник — что и в каком порядке уходит модели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 автоматических тестов: права доступа, инструменты, расчёты, ПДн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548640"/>
            <a:ext cx="384048" cy="384048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48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9848" y="512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ОСК</a:t>
            </a:r>
            <a:endParaRPr lang="en-US" sz="1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300" kern="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АДМИРАЛТЕЙСКИЕ ВЕРФИ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EEF1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ДАЛЬШЕ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94360" y="2651760"/>
            <a:ext cx="274320" cy="274320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606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Опытная эксплуатация в бюро нормирования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93522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Наполнить справочник методик реальными формулами, собрать замечания от нормировщиков.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520440"/>
            <a:ext cx="274320" cy="274320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4747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Наполнение базы знаний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80390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Загрузить нормативную документацию предприятия и включить векторный поиск.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389120"/>
            <a:ext cx="274320" cy="274320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3434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Ускоритель для модели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46725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генерации на видеокарту — ответы за секунды и больше одновременных пользователей.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5257800"/>
            <a:ext cx="274320" cy="274320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5257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521208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Закрытие контура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55412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на localhost, интерфейс за обратным прокси с HTTPS и доменным именем.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618134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srv-ai webUI · АО «Адмиралтейские верфи», ОСК   —   локальная LLM в закрытом контуре предприятия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2026-09-07T20:08:06Z</dcterms:created>
  <dcterms:modified xsi:type="dcterms:W3CDTF">2026-09-07T20:08:06Z</dcterms:modified>
</cp:coreProperties>
</file>