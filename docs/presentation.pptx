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548640"/>
            <a:ext cx="384048" cy="384048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548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69848" y="51206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ОСК</a:t>
            </a:r>
            <a:endParaRPr lang="en-US" sz="12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750" spc="300" kern="0" dirty="0">
                <a:solidFill>
                  <a:srgbClr val="9F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АДМИРАЛТЕЙСКИЕ ВЕРФИ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78308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spc="100" kern="0" dirty="0">
                <a:solidFill>
                  <a:srgbClr val="EEF1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SRV-AI </a:t>
            </a:r>
            <a:pPr algn="l" indent="0" marL="0">
              <a:buNone/>
            </a:pPr>
            <a:r>
              <a:rPr lang="en-US" sz="5200" b="1" spc="100" kern="0" dirty="0">
                <a:solidFill>
                  <a:srgbClr val="E53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pPr algn="l" indent="0" marL="0">
              <a:buNone/>
            </a:pPr>
            <a:r>
              <a:rPr lang="en-US" sz="5200" b="1" spc="100" kern="0" dirty="0">
                <a:solidFill>
                  <a:srgbClr val="EEF1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РАБОЧЕЕ МЕСТО ИИ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94360" y="320040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Корпоративный веб-интерфейс к локальной языковой модели: чат, заметки, календарь и база знаний в едином окне — целиком в закрытом контуре предприятия.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94360" y="4526280"/>
            <a:ext cx="2655418" cy="402336"/>
          </a:xfrm>
          <a:prstGeom prst="rect">
            <a:avLst/>
          </a:prstGeom>
          <a:solidFill>
            <a:srgbClr val="BE1E2D"/>
          </a:solidFill>
          <a:ln w="12700">
            <a:solidFill>
              <a:srgbClr val="BE1E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4526280"/>
            <a:ext cx="26554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ЛОКАЛЬНО, БЕЗ ИНТЕРНЕТА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96082" y="4526280"/>
            <a:ext cx="2457907" cy="402336"/>
          </a:xfrm>
          <a:prstGeom prst="rect">
            <a:avLst/>
          </a:prstGeom>
          <a:solidFill>
            <a:srgbClr val="1E2A33"/>
          </a:solidFill>
          <a:ln w="12700">
            <a:solidFill>
              <a:srgbClr val="3A46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96082" y="4526280"/>
            <a:ext cx="245790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50" kern="0" dirty="0">
                <a:solidFill>
                  <a:srgbClr val="B7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АУТЕНТИФИКАЦИЯ И РОЛИ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000293" y="4526280"/>
            <a:ext cx="1371600" cy="402336"/>
          </a:xfrm>
          <a:prstGeom prst="rect">
            <a:avLst/>
          </a:prstGeom>
          <a:solidFill>
            <a:srgbClr val="1E2A33"/>
          </a:solidFill>
          <a:ln w="12700">
            <a:solidFill>
              <a:srgbClr val="3A46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00293" y="452628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50" kern="0" dirty="0">
                <a:solidFill>
                  <a:srgbClr val="B7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ФИЛЬТР ПДН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518197" y="4526280"/>
            <a:ext cx="1766621" cy="402336"/>
          </a:xfrm>
          <a:prstGeom prst="rect">
            <a:avLst/>
          </a:prstGeom>
          <a:solidFill>
            <a:srgbClr val="1E2A33"/>
          </a:solidFill>
          <a:ln w="12700">
            <a:solidFill>
              <a:srgbClr val="3A46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18197" y="4526280"/>
            <a:ext cx="176662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50" kern="0" dirty="0">
                <a:solidFill>
                  <a:srgbClr val="B7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АУДИТ ДЕЙСТВИЙ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31122" y="4526280"/>
            <a:ext cx="1964131" cy="402336"/>
          </a:xfrm>
          <a:prstGeom prst="rect">
            <a:avLst/>
          </a:prstGeom>
          <a:solidFill>
            <a:srgbClr val="1E2A33"/>
          </a:solidFill>
          <a:ln w="12700">
            <a:solidFill>
              <a:srgbClr val="3A46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31122" y="4526280"/>
            <a:ext cx="196413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50" kern="0" dirty="0">
                <a:solidFill>
                  <a:srgbClr val="B7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LLAMA.CPP · QWEN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436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АО «Адмиралтейские верфи» · ОСК   |   локальная LLM в закрытом контуре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ЗАЧЕМ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ЕДИНОЕ РАБОЧЕЕ МЕСТО ОТДЕЛА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4160520"/>
          </a:xfrm>
          <a:prstGeom prst="rect">
            <a:avLst/>
          </a:prstGeom>
          <a:solidFill>
            <a:srgbClr val="F4F6F7"/>
          </a:solidFill>
          <a:ln w="12700">
            <a:solidFill>
              <a:srgbClr val="D9DD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011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БЫЛО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Штатный веб-интерфейс llama.cpp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3154680"/>
            <a:ext cx="4709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аутентификации и разграничения пользователей</a:t>
            </a:r>
            <a:endParaRPr lang="en-US" sz="1450" dirty="0"/>
          </a:p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журналирования действий</a:t>
            </a:r>
            <a:endParaRPr lang="en-US" sz="1450" dirty="0"/>
          </a:p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отвечает требованиям ИБ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349240" cy="4160520"/>
          </a:xfrm>
          <a:prstGeom prst="rect">
            <a:avLst/>
          </a:prstGeom>
          <a:solidFill>
            <a:srgbClr val="FBEDEE"/>
          </a:solidFill>
          <a:ln w="12700">
            <a:solidFill>
              <a:srgbClr val="D9DD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29400" y="2011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СТАЛО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629400" y="233172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Собственный интерфейс отдела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629400" y="3154680"/>
            <a:ext cx="4709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Сотрудники работают с моделью, данные не покидают контур</a:t>
            </a:r>
            <a:endParaRPr lang="en-US" sz="1450" dirty="0"/>
          </a:p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ведёт заметки и календарь по запросу на естественном языке</a:t>
            </a:r>
            <a:endParaRPr lang="en-US" sz="1450" dirty="0"/>
          </a:p>
          <a:p>
            <a:pPr marL="203200" indent="-2032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аудит, роли, фильтр персональных данных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600200" y="38404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ЕДИНЫЙ ВХОД И РОЛИ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257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Локальные логин и пароль. Самостоятельной регистрации нет — учётные записи заводит администратор.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5257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Сессии в httpOnly-cookie, TTL 12 часов, ограничение попыток входа по IP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роли: администратор и пользователь; первый админ — CLI-командой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экране входа памятка: гостайну не вводить, ответы проверять специалистом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016752" y="1444752"/>
            <a:ext cx="5696712" cy="3607961"/>
          </a:xfrm>
          <a:prstGeom prst="rect">
            <a:avLst/>
          </a:prstGeom>
          <a:solidFill>
            <a:srgbClr val="FFFFFF"/>
          </a:solidFill>
          <a:ln w="12700">
            <a:solidFill>
              <a:srgbClr val="D9DDE0"/>
            </a:solidFill>
            <a:prstDash val="solid"/>
          </a:ln>
          <a:effectLst>
            <a:outerShdw sx="100000" sy="100000" kx="0" ky="0" algn="bl" rotWithShape="0" blurRad="114300" dist="50800" dir="5400000">
              <a:srgbClr val="1E2A33">
                <a:alpha val="28000"/>
              </a:srgbClr>
            </a:outerShdw>
          </a:effectLst>
        </p:spPr>
      </p:sp>
      <p:pic>
        <p:nvPicPr>
          <p:cNvPr id="7" name="Image 0" descr="/tmp/claude-0/-home-user-srv-ai-webUI/36c6014c-cdd6-5931-ba98-e4ca092d3cc6/scratchpad/shots/01_log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53328" y="1481328"/>
            <a:ext cx="5623560" cy="353480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600200" y="38404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 С ЛОКАЛЬНОЙ МОДЕЛЬЮ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257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Потоковый ответ из llama.cpp. История чатов приватна для каждого пользователя.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5257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Режим «Размышления» в сворачиваемом блоке; в следующий запрос не уходит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с таблицами и кодом, формулы LaTeX (KaTeX, локально), копирование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Статистика под ответом: токены, скорость, время ответа, % контекста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Действия под сообщением: продолжить, перегенерировать, редактировать, удалить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016752" y="1444752"/>
            <a:ext cx="5696712" cy="3607961"/>
          </a:xfrm>
          <a:prstGeom prst="rect">
            <a:avLst/>
          </a:prstGeom>
          <a:solidFill>
            <a:srgbClr val="FFFFFF"/>
          </a:solidFill>
          <a:ln w="12700">
            <a:solidFill>
              <a:srgbClr val="D9DDE0"/>
            </a:solidFill>
            <a:prstDash val="solid"/>
          </a:ln>
          <a:effectLst>
            <a:outerShdw sx="100000" sy="100000" kx="0" ky="0" algn="bl" rotWithShape="0" blurRad="114300" dist="50800" dir="5400000">
              <a:srgbClr val="1E2A33">
                <a:alpha val="28000"/>
              </a:srgbClr>
            </a:outerShdw>
          </a:effectLst>
        </p:spPr>
      </p:sp>
      <p:pic>
        <p:nvPicPr>
          <p:cNvPr id="7" name="Image 0" descr="/tmp/claude-0/-home-user-srv-ai-webUI/36c6014c-cdd6-5931-ba98-e4ca092d3cc6/scratchpad/shots/02_chat_answ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53328" y="1481328"/>
            <a:ext cx="5623560" cy="353480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600200" y="38404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ЗАМЕТКИ И КАЛЕНДАРЬ ГОЛОСОМ МОДЕЛИ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257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 на естественном языке: «создай заметку», «что у меня на неделе», «перенеси совещание на четверг».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5257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Серверный агентный цикл, до 6 шагов за ответ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Инструменты работают от имени пользователя — чужие данные недоступны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Плашки «создана заметка …» по факту выполнения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Удаление и перезапись — только по подтверждению в интерфейсе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016752" y="1444752"/>
            <a:ext cx="5696712" cy="3607961"/>
          </a:xfrm>
          <a:prstGeom prst="rect">
            <a:avLst/>
          </a:prstGeom>
          <a:solidFill>
            <a:srgbClr val="FFFFFF"/>
          </a:solidFill>
          <a:ln w="12700">
            <a:solidFill>
              <a:srgbClr val="D9DDE0"/>
            </a:solidFill>
            <a:prstDash val="solid"/>
          </a:ln>
          <a:effectLst>
            <a:outerShdw sx="100000" sy="100000" kx="0" ky="0" algn="bl" rotWithShape="0" blurRad="114300" dist="50800" dir="5400000">
              <a:srgbClr val="1E2A33">
                <a:alpha val="28000"/>
              </a:srgbClr>
            </a:outerShdw>
          </a:effectLst>
        </p:spPr>
      </p:sp>
      <p:pic>
        <p:nvPicPr>
          <p:cNvPr id="7" name="Image 0" descr="/tmp/claude-0/-home-user-srv-ai-webUI/36c6014c-cdd6-5931-ba98-e4ca092d3cc6/scratchpad/shots/03_tool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53328" y="1481328"/>
            <a:ext cx="5623560" cy="353480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600200" y="38404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ФИЛЬТР ПЕРСОНАЛЬНЫХ ДАННЫХ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257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BE1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Персональные данные маскируются ДО отправки в модель и ДО записи в историю чатов.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5257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Регулярки: телефоны, e-mail, СНИЛС, ИНН, паспорт, карты (Луна), счета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ФИО — по правилам (отчества, инициалы, словарь имён), без внешних моделей и сети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Белый список для нормативки — не маскировать подписантов документов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модель уходит уже очищенный текст; исходные значения в неё не попадают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016752" y="1444752"/>
            <a:ext cx="5696712" cy="3607961"/>
          </a:xfrm>
          <a:prstGeom prst="rect">
            <a:avLst/>
          </a:prstGeom>
          <a:solidFill>
            <a:srgbClr val="FFFFFF"/>
          </a:solidFill>
          <a:ln w="12700">
            <a:solidFill>
              <a:srgbClr val="D9DDE0"/>
            </a:solidFill>
            <a:prstDash val="solid"/>
          </a:ln>
          <a:effectLst>
            <a:outerShdw sx="100000" sy="100000" kx="0" ky="0" algn="bl" rotWithShape="0" blurRad="114300" dist="50800" dir="5400000">
              <a:srgbClr val="1E2A33">
                <a:alpha val="28000"/>
              </a:srgbClr>
            </a:outerShdw>
          </a:effectLst>
        </p:spPr>
      </p:sp>
      <p:pic>
        <p:nvPicPr>
          <p:cNvPr id="7" name="Image 0" descr="/tmp/claude-0/-home-user-srv-ai-webUI/36c6014c-cdd6-5931-ba98-e4ca092d3cc6/scratchpad/shots/04_pi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53328" y="1481328"/>
            <a:ext cx="5623560" cy="353480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600200" y="38404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ДОКУМЕНТЫ В ЧАТ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257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txt, md, csv, docx, xlsx, pdf, png, jpg — до 15 МБ. Разбор на сервере, файлы не хранятся.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5257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извлекается на бэкенде (таблицы csv/xlsx → markdown)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PDF: тумблер «как картинку» (все страницы через mmproj) или «как текст»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Картинки и PDF-сканы распознаёт сама мультимодальная модель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MIME, защита от zip-бомб; извлечённый текст проходит фильтр ПДн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016752" y="1444752"/>
            <a:ext cx="5696712" cy="3607961"/>
          </a:xfrm>
          <a:prstGeom prst="rect">
            <a:avLst/>
          </a:prstGeom>
          <a:solidFill>
            <a:srgbClr val="FFFFFF"/>
          </a:solidFill>
          <a:ln w="12700">
            <a:solidFill>
              <a:srgbClr val="D9DDE0"/>
            </a:solidFill>
            <a:prstDash val="solid"/>
          </a:ln>
          <a:effectLst>
            <a:outerShdw sx="100000" sy="100000" kx="0" ky="0" algn="bl" rotWithShape="0" blurRad="114300" dist="50800" dir="5400000">
              <a:srgbClr val="1E2A33">
                <a:alpha val="28000"/>
              </a:srgbClr>
            </a:outerShdw>
          </a:effectLst>
        </p:spPr>
      </p:sp>
      <p:pic>
        <p:nvPicPr>
          <p:cNvPr id="7" name="Image 0" descr="/tmp/claude-0/-home-user-srv-ai-webUI/36c6014c-cdd6-5931-ba98-e4ca092d3cc6/scratchpad/shots/07_documen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53328" y="1481328"/>
            <a:ext cx="5623560" cy="353480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600200" y="38404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ЗАМЕТКИ И КАЛЕНДАРЬ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Личные и общие записи. Поиск по подстроке и тэгам; вид «Месяц» и «Список ближайших». Тот же REST API используют инструменты модели.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12064" y="2112264"/>
            <a:ext cx="5422392" cy="3435531"/>
          </a:xfrm>
          <a:prstGeom prst="rect">
            <a:avLst/>
          </a:prstGeom>
          <a:solidFill>
            <a:srgbClr val="FFFFFF"/>
          </a:solidFill>
          <a:ln w="12700">
            <a:solidFill>
              <a:srgbClr val="D9DDE0"/>
            </a:solidFill>
            <a:prstDash val="solid"/>
          </a:ln>
          <a:effectLst>
            <a:outerShdw sx="100000" sy="100000" kx="0" ky="0" algn="bl" rotWithShape="0" blurRad="114300" dist="50800" dir="5400000">
              <a:srgbClr val="1E2A33">
                <a:alpha val="28000"/>
              </a:srgbClr>
            </a:outerShdw>
          </a:effectLst>
        </p:spPr>
      </p:sp>
      <p:pic>
        <p:nvPicPr>
          <p:cNvPr id="6" name="Image 0" descr="/tmp/claude-0/-home-user-srv-ai-webUI/36c6014c-cdd6-5931-ba98-e4ca092d3cc6/scratchpad/shots/05_not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148840"/>
            <a:ext cx="5349240" cy="336237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54496" y="2112264"/>
            <a:ext cx="5422392" cy="3435531"/>
          </a:xfrm>
          <a:prstGeom prst="rect">
            <a:avLst/>
          </a:prstGeom>
          <a:solidFill>
            <a:srgbClr val="FFFFFF"/>
          </a:solidFill>
          <a:ln w="12700">
            <a:solidFill>
              <a:srgbClr val="D9DDE0"/>
            </a:solidFill>
            <a:prstDash val="solid"/>
          </a:ln>
          <a:effectLst>
            <a:outerShdw sx="100000" sy="100000" kx="0" ky="0" algn="bl" rotWithShape="0" blurRad="114300" dist="50800" dir="5400000">
              <a:srgbClr val="1E2A33">
                <a:alpha val="28000"/>
              </a:srgbClr>
            </a:outerShdw>
          </a:effectLst>
        </p:spPr>
      </p:sp>
      <p:pic>
        <p:nvPicPr>
          <p:cNvPr id="8" name="Image 1" descr="/tmp/claude-0/-home-user-srv-ai-webUI/36c6014c-cdd6-5931-ba98-e4ca092d3cc6/scratchpad/shots/06_calenda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91072" y="2148840"/>
            <a:ext cx="5349240" cy="336237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" y="5556939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ЗАМЕТКИ · экспорт в PDF со всеми формулами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6291072" y="5556939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КАЛЕНДАРЬ · общие события помечены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600200" y="38404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РЕЖИМЫ И СВОЙ СИСТЕМНЫЙ ПРОМПТ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257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Специализации (Механообработка, Сварка, Литьё…) наполняет администратор. Пользователь выбирает режим или пишет свой промпт.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5257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Библиотека промптов под задачи отдела — в администрировании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Свой промпт действует в рамках чата и имеет приоритет над режимом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Профиль: смена пароля, размер шрифта, обратная связь 👍/👎 к ответам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Выгрузка оценок в JSONL — задел под дообучение (LoRA)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016752" y="1444752"/>
            <a:ext cx="5696712" cy="3607961"/>
          </a:xfrm>
          <a:prstGeom prst="rect">
            <a:avLst/>
          </a:prstGeom>
          <a:solidFill>
            <a:srgbClr val="FFFFFF"/>
          </a:solidFill>
          <a:ln w="12700">
            <a:solidFill>
              <a:srgbClr val="D9DDE0"/>
            </a:solidFill>
            <a:prstDash val="solid"/>
          </a:ln>
          <a:effectLst>
            <a:outerShdw sx="100000" sy="100000" kx="0" ky="0" algn="bl" rotWithShape="0" blurRad="114300" dist="50800" dir="5400000">
              <a:srgbClr val="1E2A33">
                <a:alpha val="28000"/>
              </a:srgbClr>
            </a:outerShdw>
          </a:effectLst>
        </p:spPr>
      </p:sp>
      <p:pic>
        <p:nvPicPr>
          <p:cNvPr id="7" name="Image 0" descr="/tmp/claude-0/-home-user-srv-ai-webUI/36c6014c-cdd6-5931-ba98-e4ca092d3cc6/scratchpad/shots/09_promp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53328" y="1481328"/>
            <a:ext cx="5623560" cy="353480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600200" y="38404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АДМИНИСТРИРОВАНИЕ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257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Пользователи, специализации, примеры запросов, метрики и журнал аудита — в одном разделе для админа.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5257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Метрики: число запросов, успех/неуспех, токены/с, срабатывания ПДн по типам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аудита: входы (в т.ч. неудачные), действия, вызовы инструментов, удаления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Пользователи: создание, блокировка, сброс пароля, удаление с каскадом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Содержание запросов и пароли в логи и аудит не пишутся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016752" y="1444752"/>
            <a:ext cx="5696712" cy="3607961"/>
          </a:xfrm>
          <a:prstGeom prst="rect">
            <a:avLst/>
          </a:prstGeom>
          <a:solidFill>
            <a:srgbClr val="FFFFFF"/>
          </a:solidFill>
          <a:ln w="12700">
            <a:solidFill>
              <a:srgbClr val="D9DDE0"/>
            </a:solidFill>
            <a:prstDash val="solid"/>
          </a:ln>
          <a:effectLst>
            <a:outerShdw sx="100000" sy="100000" kx="0" ky="0" algn="bl" rotWithShape="0" blurRad="114300" dist="50800" dir="5400000">
              <a:srgbClr val="1E2A33">
                <a:alpha val="28000"/>
              </a:srgbClr>
            </a:outerShdw>
          </a:effectLst>
        </p:spPr>
      </p:sp>
      <p:pic>
        <p:nvPicPr>
          <p:cNvPr id="7" name="Image 0" descr="/tmp/claude-0/-home-user-srv-ai-webUI/36c6014c-cdd6-5931-ba98-e4ca092d3cc6/scratchpad/shots/10_admin_t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53328" y="1481328"/>
            <a:ext cx="5623560" cy="353480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600200" y="38404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СВЕТЛАЯ И ТЁМНАЯ ТЕМЫ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257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Переключатель в профиле: светлая, тёмная или «как в системе». Выбор хранится на аккаунте и следует за пользователем на любом устройстве.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5257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Тёмная палитра в фирменном стиле — графит и красный акцент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Применяется до отрисовки, без «вспышки»; работает и на экране входа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Формулы, таблицы, код, поля ввода — читаемы в обеих темах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016752" y="1444752"/>
            <a:ext cx="5696712" cy="3607961"/>
          </a:xfrm>
          <a:prstGeom prst="rect">
            <a:avLst/>
          </a:prstGeom>
          <a:solidFill>
            <a:srgbClr val="FFFFFF"/>
          </a:solidFill>
          <a:ln w="12700">
            <a:solidFill>
              <a:srgbClr val="D9DDE0"/>
            </a:solidFill>
            <a:prstDash val="solid"/>
          </a:ln>
          <a:effectLst>
            <a:outerShdw sx="100000" sy="100000" kx="0" ky="0" algn="bl" rotWithShape="0" blurRad="114300" dist="50800" dir="5400000">
              <a:srgbClr val="1E2A33">
                <a:alpha val="28000"/>
              </a:srgbClr>
            </a:outerShdw>
          </a:effectLst>
        </p:spPr>
      </p:sp>
      <p:pic>
        <p:nvPicPr>
          <p:cNvPr id="7" name="Image 0" descr="/tmp/claude-0/-home-user-srv-ai-webUI/36c6014c-cdd6-5931-ba98-e4ca092d3cc6/scratchpad/shots/11_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53328" y="1481328"/>
            <a:ext cx="5623560" cy="353480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53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ЭРГОНОМИКА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МЕЛОЧИ, ИЗ КОТОРЫХ СКЛАДЫВАЕТСЯ УДОБСТВО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79192" cy="2011680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011680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249424"/>
            <a:ext cx="2167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Параллельные чаты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2798064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не рвётся при переходе в другой чат; индикатор в списке.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01568" y="1737360"/>
            <a:ext cx="2679192" cy="2011680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0" y="2011680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0" y="2249424"/>
            <a:ext cx="2167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Честная очередь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57600" y="2798064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на CPU считает по очереди; статус «В очереди: N».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54496" y="1737360"/>
            <a:ext cx="2679192" cy="2011680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10528" y="2011680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10528" y="2249424"/>
            <a:ext cx="2167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Продолжение ответа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10528" y="2798064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«Продолжить» дописывает оборванный ответ в то же сообщение.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107424" y="1737360"/>
            <a:ext cx="2679192" cy="2011680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63456" y="2011680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8" name="Text 16"/>
          <p:cNvSpPr/>
          <p:nvPr/>
        </p:nvSpPr>
        <p:spPr>
          <a:xfrm>
            <a:off x="9363456" y="2249424"/>
            <a:ext cx="2167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Скорость как в llama.cpp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363456" y="2798064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Токены/с — из счётчиков сервера, а не на глаз.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968496"/>
            <a:ext cx="2679192" cy="2011680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4242816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4480560"/>
            <a:ext cx="2167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Формулы LaTeX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04672" y="5029200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KaTeX локально: $…$ и $$…$$, включая кириллицу в индексах.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401568" y="3968496"/>
            <a:ext cx="2679192" cy="2011680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4242816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0" y="4480560"/>
            <a:ext cx="2167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Заметка в PDF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657600" y="5029200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Любую заметку — в PDF со всеми формулами, одной кнопкой.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54496" y="3968496"/>
            <a:ext cx="2679192" cy="2011680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10528" y="4242816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30" name="Text 28"/>
          <p:cNvSpPr/>
          <p:nvPr/>
        </p:nvSpPr>
        <p:spPr>
          <a:xfrm>
            <a:off x="6510528" y="4480560"/>
            <a:ext cx="2167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Приватность истории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510528" y="5029200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Шифрование БД (SQLCipher) и автоочистка — флаги в .env.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9107424" y="3968496"/>
            <a:ext cx="2679192" cy="2011680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363456" y="4242816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34" name="Text 32"/>
          <p:cNvSpPr/>
          <p:nvPr/>
        </p:nvSpPr>
        <p:spPr>
          <a:xfrm>
            <a:off x="9363456" y="4480560"/>
            <a:ext cx="2167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Честность модели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363456" y="5029200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Промпт: не выдумывать; при незнании — прямо говорить.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53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ИНФРАСТРУКТУРА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LLAMA.CPP + QWEN ПОД КАПОТОМ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1672" cy="1417320"/>
          </a:xfrm>
          <a:prstGeom prst="rect">
            <a:avLst/>
          </a:prstGeom>
          <a:solidFill>
            <a:srgbClr val="24313B"/>
          </a:solidFill>
          <a:ln w="12700">
            <a:solidFill>
              <a:srgbClr val="BE1E2D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777240" y="1901952"/>
            <a:ext cx="960120" cy="310896"/>
          </a:xfrm>
          <a:prstGeom prst="rect">
            <a:avLst/>
          </a:prstGeom>
          <a:solidFill>
            <a:srgbClr val="1E2A33"/>
          </a:solidFill>
          <a:ln w="12700">
            <a:solidFill>
              <a:srgbClr val="BE1E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0195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E53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2331720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Qwen3.6-35B-A3B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(GGUF, квант UD-Q8_K_XL) на </a:t>
            </a:r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llama.cpp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(CPU-сервер). OpenAI-совместимый API: --jinja (tool calling), --mmproj (vision), --reasoning-format deepseek (thinking), --no-webui — работает только наш UI.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3429000"/>
            <a:ext cx="5394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—"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— 0.0.0.0:8001, единственный порт наружу; вход только по паролю</a:t>
            </a:r>
            <a:endParaRPr lang="en-US" sz="1400" dirty="0"/>
          </a:p>
          <a:p>
            <a:pPr marL="228600" indent="-228600">
              <a:spcAft>
                <a:spcPts val="1200"/>
              </a:spcAft>
              <a:buSzPct val="100000"/>
              <a:buChar char="—"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llama.cpp — 127.0.0.1:8000, доступ в обход UI невозможен</a:t>
            </a:r>
            <a:endParaRPr lang="en-US" sz="1400" dirty="0"/>
          </a:p>
          <a:p>
            <a:pPr marL="228600" indent="-228600">
              <a:spcAft>
                <a:spcPts val="1200"/>
              </a:spcAft>
              <a:buSzPct val="100000"/>
              <a:buChar char="—"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Эмбеддинги bge-m3 — локальный порт, использует LightRAG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245352" y="3429000"/>
            <a:ext cx="5394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—"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LightRAG — база знаний отдела, URL и ключ в .env</a:t>
            </a:r>
            <a:endParaRPr lang="en-US" sz="1400" dirty="0"/>
          </a:p>
          <a:p>
            <a:pPr marL="228600" indent="-228600">
              <a:spcAft>
                <a:spcPts val="1200"/>
              </a:spcAft>
              <a:buSzPct val="100000"/>
              <a:buChar char="—"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Счётчики usage/timings — честные токены/с, время, % контекста</a:t>
            </a:r>
            <a:endParaRPr lang="en-US" sz="1400" dirty="0"/>
          </a:p>
          <a:p>
            <a:pPr marL="228600" indent="-228600">
              <a:spcAft>
                <a:spcPts val="1200"/>
              </a:spcAft>
              <a:buSzPct val="100000"/>
              <a:buChar char="—"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systemd --user + linger: автозапуск после ребута без root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ДОКУМЕНТАЦИЯ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ЭТО УСТРОЕНО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440680" cy="1874520"/>
          </a:xfrm>
          <a:prstGeom prst="rect">
            <a:avLst/>
          </a:prstGeom>
          <a:solidFill>
            <a:srgbClr val="1E2A33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57984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EF1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[Браузер] ──HTTP──▶ [FastAPI :8080]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EF1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├─ /api/chat ─SSE─▶ llama.cpp :8000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EF1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├─ /api/rag ──────▶ LightRAG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EF1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├─ SQLite (users, chats, notes, …)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EF1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└─ статика (html, css, js, шрифты)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4069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СТЕК И ЗАВИСИМОСТИ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4389120"/>
            <a:ext cx="5440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Python 3.10+, FastAPI, uvicorn, httpx (SSE), aiosqlite, bcrypt</a:t>
            </a:r>
            <a:endParaRPr lang="en-US" sz="130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Документы: python-docx, openpyxl, pypdf, Pillow, pypdfium2</a:t>
            </a:r>
            <a:endParaRPr lang="en-US" sz="130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 ПДн: регулярки + правила для ФИО в app/pii.py (без внешних NER-моделей)</a:t>
            </a:r>
            <a:endParaRPr lang="en-US" sz="130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 статические HTML/CSS/JS без сборки — код обозрим для аудита ИБ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691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БЕЗОПАСНОСТЬ (ИБ)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2011680"/>
            <a:ext cx="534924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Никакого исходящего трафика, кроме адресов модели и базы знаний</a:t>
            </a:r>
            <a:endParaRPr lang="en-US" sz="130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Обязательная аутентификация; параметризованные SQL-запросы</a:t>
            </a:r>
            <a:endParaRPr lang="en-US" sz="130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Экранирование HTML при рендере markdown (защита от XSS)</a:t>
            </a:r>
            <a:endParaRPr lang="en-US" sz="130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CSRF: SameSite=Lax + проверка Origin; X-Frame-Options=DENY, CSP self</a:t>
            </a:r>
            <a:endParaRPr lang="en-US" sz="130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аудит и логи содержание запросов и пароли не пишутся</a:t>
            </a:r>
            <a:endParaRPr lang="en-US" sz="130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Модели закрыты на localhost — доступ в обход UI невозможен</a:t>
            </a:r>
            <a:endParaRPr lang="en-US" sz="130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Приватность истории: чаты изолированы по владельцу; опц. шифрование БД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548640"/>
            <a:ext cx="384048" cy="384048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548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69848" y="51206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ОСК</a:t>
            </a:r>
            <a:endParaRPr lang="en-US" sz="12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750" spc="300" kern="0" dirty="0">
                <a:solidFill>
                  <a:srgbClr val="9F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АДМИРАЛТЕЙСКИЕ ВЕРФИ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554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100" kern="0" dirty="0">
                <a:solidFill>
                  <a:srgbClr val="EEF1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ПРОВЕРЕНО НА ПРИЁМКЕ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94360" y="2724912"/>
            <a:ext cx="256032" cy="256032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26974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Чужие личные заметки и события недоступны ни через UI, ни через API, ни через инструменты модели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94360" y="3474720"/>
            <a:ext cx="256032" cy="256032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34747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05840" y="344728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«Создай на завтра совещание и заметку с повесткой» → событие и заметка появляются без ручных действий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94360" y="4224528"/>
            <a:ext cx="256032" cy="256032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42245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05840" y="4197096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«Что у меня на этой неделе?» → ответ по реальным данным календаря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594360" y="4974336"/>
            <a:ext cx="256032" cy="256032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49743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05840" y="4946904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выключенном интернете всё работает после офлайн-установки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594360" y="6263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srv-ai webUI · АО «Адмиралтейские верфи», ОСК   —   локальная LLM в закрытом контуре предприятия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2026-07-27T03:57:58Z</dcterms:created>
  <dcterms:modified xsi:type="dcterms:W3CDTF">2026-07-27T03:57:58Z</dcterms:modified>
</cp:coreProperties>
</file>