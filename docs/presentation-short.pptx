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с. Короткая версия большой презентации. Три вопроса: что это, как этим пользуются, что предприятие с этого имеет.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с. Главное: модель у нас, вокруг неё рабочее место, и модель заменяема. Дальше — как этим пользуются.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с. Ключевой слайд. Показать на кадре плашку с ходом расчёта: число не на совести модели, его можно защитить перед проверяющим.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с. Самый важный слайд. Модель — расходная деталь, обвязка — актив. Именно поэтому это не сайт вокруг чата.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с. Мысль: улучшение модели достаётся нам целиком, платить за него переделкой не нужно. Осторожно с обещаниями: во сколько раз станет лучше — не измеряли.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с. Не зачитывать все шесть — назвать два-три и сказать, что остальное на приёмке проверено тем же порядком.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с. Цифры взять ровно из паспорта проекта, иначе на защите разойдутся. Эффект посчитан по работам, не пересекающимся с проектом по нормированию, — двойного счёта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с. Закончить на том, что нужно от руководства: люди в опытную эксплуатацию, доступ к нормативной документации, видеоускоритель.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48640"/>
            <a:ext cx="384048" cy="384048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48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" y="512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ОСК</a:t>
            </a:r>
            <a:endParaRPr lang="en-US" sz="1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300" kern="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АДМИРАЛТЕЙСКИЕ ВЕРФИ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 · ПЯТЬ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2057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spc="100" kern="0" dirty="0">
                <a:solidFill>
                  <a:srgbClr val="EE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РАБОЧЕЕ МЕСТО ИИ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защищённого рабочего места специалиста с искусственным интеллектом в замкнутом контуре Общества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40233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производственной системы · 01.10.2026 – 30.03.2027 · УТПП, УИТ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846320"/>
            <a:ext cx="1120140" cy="402336"/>
          </a:xfrm>
          <a:prstGeom prst="rect">
            <a:avLst/>
          </a:prstGeom>
          <a:solidFill>
            <a:srgbClr val="1E2A33"/>
          </a:solidFill>
          <a:ln w="12700">
            <a:solidFill>
              <a:srgbClr val="3A4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846320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7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60804" y="4846320"/>
            <a:ext cx="1645920" cy="402336"/>
          </a:xfrm>
          <a:prstGeom prst="rect">
            <a:avLst/>
          </a:prstGeom>
          <a:solidFill>
            <a:srgbClr val="1E2A33"/>
          </a:solidFill>
          <a:ln w="12700">
            <a:solidFill>
              <a:srgbClr val="3A4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60804" y="4846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7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3028" y="4846320"/>
            <a:ext cx="2487168" cy="402336"/>
          </a:xfrm>
          <a:prstGeom prst="rect">
            <a:avLst/>
          </a:prstGeom>
          <a:solidFill>
            <a:srgbClr val="1E2A33"/>
          </a:solidFill>
          <a:ln w="12700">
            <a:solidFill>
              <a:srgbClr val="3A46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3028" y="484632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7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ПРОСТО ЧАТ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86500" y="4846320"/>
            <a:ext cx="1225296" cy="402336"/>
          </a:xfrm>
          <a:prstGeom prst="rect">
            <a:avLst/>
          </a:prstGeom>
          <a:solidFill>
            <a:srgbClr val="1E2A33"/>
          </a:solidFill>
          <a:ln w="12700">
            <a:solidFill>
              <a:srgbClr val="3A4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6500" y="4846320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B7C3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614476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АО «Адмиралтейские верфи» · ОСК   |   сентябрь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ВЕЩИ, И ВСЁ СТАНЕТ ПОНЯТНО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75304" cy="274320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42316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6609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стоит у нас в серверной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3172968"/>
            <a:ext cx="31181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Языковая модель работает на нашем оборудовании. Ни один запрос не уходит в интернет: ни чертёж, ни норматив, ни фамилия. Интернет для работы не нужен вовсе — проверено при физически отключённой сети.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2148840"/>
            <a:ext cx="3575304" cy="274320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242316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26609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рабочее место, а не чат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3172968"/>
            <a:ext cx="31181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паролю, отделы и роли, общие заметки бюро, календарь, точные расчёты, работа с документами, журнал действий. Чат — только одно из окон, и за каждым действием стоит запись в журнале.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2148840"/>
            <a:ext cx="3575304" cy="2743200"/>
          </a:xfrm>
          <a:prstGeom prst="rect">
            <a:avLst/>
          </a:prstGeom>
          <a:solidFill>
            <a:srgbClr val="24313B"/>
          </a:solidFill>
          <a:ln w="12700">
            <a:solidFill>
              <a:srgbClr val="3442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2423160"/>
            <a:ext cx="146304" cy="1463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266090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— сменная деталь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3172968"/>
            <a:ext cx="31181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разговаривает с моделью на общепринятом языке. Придёт модель лучше — встанет на то же место: адрес и название меняются в настройках, приложение остаётся прежним.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Штатный интерфейс языковой модели такого не умеет: там нет ни входа по паролю, ни разграничения людей, ни журнала.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00200" y="38404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ЧЕМ ЕГО ЕДЯТ: ОДИН РАБОЧИЙ ЦИКЛ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BE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Нормировщик один раз кладёт методику в общую заметку отдела. Дальше считает по ней весь отдел.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03504" cy="6035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2112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ЗАМЕТКА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238658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 с формулами и допусками лежит в общей заметке бюро — одна на всех.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18104"/>
            <a:ext cx="603504" cy="6035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181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30815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25880" y="33558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чате обычной фразой: «возьми методику из заметок, фреза D=80, z=8 — проверь подачу на зуб».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603504" cy="6035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87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0507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25880" y="432511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находит заметку, читает её и передаёт числа расчётному инструменту. Сама она не считает.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56632"/>
            <a:ext cx="603504" cy="603504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0566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50200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25880" y="529437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исходных данных, результат и ход расчёта: видно, из какой формулы получено каждое число.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16752" y="1380744"/>
            <a:ext cx="5696712" cy="294231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0"/>
            </a:solidFill>
            <a:prstDash val="solid"/>
          </a:ln>
          <a:effectLst>
            <a:outerShdw sx="100000" sy="100000" kx="0" ky="0" algn="bl" rotWithShape="0" blurRad="114300" dist="50800" dir="5400000">
              <a:srgbClr val="1E2A33">
                <a:alpha val="28000"/>
              </a:srgbClr>
            </a:outerShdw>
          </a:effectLst>
        </p:spPr>
      </p:sp>
      <p:pic>
        <p:nvPicPr>
          <p:cNvPr id="22" name="Image 0" descr="/home/user/srv-ai_webUI/docs/presentation-src/shots/12_cal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53328" y="1417320"/>
            <a:ext cx="5623560" cy="2869163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053328" y="443484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модели: слева ход расчёта, ниже — исходные данные и результат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144768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же ведутся заметки и календарь: «создай на завтра совещание и заметку с повесткой» — без переключения программ.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ЗДЕСЬ ГЛАВНОЕ — И ЧТО ЗАМЕНЯЕМО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57400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500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1576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браузер,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паролю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517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154680" y="1691640"/>
            <a:ext cx="576072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BE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84708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ОБВЯЗКА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21579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мы построили и что остаётся навсегда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64992" y="2606040"/>
            <a:ext cx="2596896" cy="56692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60604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и отделы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606040"/>
            <a:ext cx="2596896" cy="56692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60604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заметки бюро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64992" y="3328416"/>
            <a:ext cx="2596896" cy="56692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332841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расчёт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3328416"/>
            <a:ext cx="2596896" cy="56692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32841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персональных данных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64992" y="4050792"/>
            <a:ext cx="2596896" cy="56692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4050792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документами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050792"/>
            <a:ext cx="2596896" cy="56692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4050792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действий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7940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09760" y="2148840"/>
            <a:ext cx="2130552" cy="1371600"/>
          </a:xfrm>
          <a:prstGeom prst="rect">
            <a:avLst/>
          </a:prstGeom>
          <a:solidFill>
            <a:srgbClr val="F4F6F7"/>
          </a:solidFill>
          <a:ln w="12700">
            <a:solidFill>
              <a:srgbClr val="5B667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9509760" y="2350008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09760" y="269748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E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сменная деталь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09760" y="3566160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общепринятый протокол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91672" cy="960120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была не над моделью, а над обвязкой.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— общедоступная и бесплатная, её через год сменит следующая. Права доступа, методики отдела, проверяемый расчёт, фильтр персональных данных и журнал останутся теми же — их менять не придётся.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РАСТЁТ МОДЕЛЬ — РАСТЁТ И РАБОЧЕЕ МЕСТО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023360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≈20</a:t>
            </a:r>
            <a:pPr indent="0" marL="0">
              <a:buNone/>
            </a:pPr>
            <a:r>
              <a:rPr lang="en-US" sz="160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токенов/с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Qwen3.6-35B-A3B: из 35 млрд параметров в работе одновременно 3 млрд — поэтому хватает процессора, без видеокарты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по методике — около минуты, развёрнутая справка — две-три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общедоступная и бесплатная, лицензионных платежей нет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131 тыс. токенов на пользователя — норматив помещается в запрос целиком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30952" cy="4023360"/>
          </a:xfrm>
          <a:prstGeom prst="rect">
            <a:avLst/>
          </a:prstGeom>
          <a:solidFill>
            <a:srgbClr val="FBEDEE"/>
          </a:solidFill>
          <a:ln w="12700">
            <a:solidFill>
              <a:srgbClr val="BE1E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920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19456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 строки кода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629400" y="2798064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менять не придётся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3200400"/>
            <a:ext cx="469087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модель ставится сменой адреса и названия в настройках — правка кода не нужна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Видеоускоритель: ответ за секунды вместо минуты; это параметр запуска модели, не доработка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345 автоматических тестов проверяют права, расчёты и фильтр ПДн — после смены модели поведение проверяется тем же прогоном</a:t>
            </a:r>
            <a:endParaRPr lang="en-US" sz="1300" dirty="0"/>
          </a:p>
          <a:p>
            <a:pPr algn="l" marL="203200" indent="-203200">
              <a:lnSpc>
                <a:spcPct val="100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Сменить сервер модели можно прямо из админки, без перезапуска — это уже работает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89788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Вложение — в обвязку, а она от смены модели не устаревает.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38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УЖЕ РАБОТАЕТ, А НЕ В ПЛАНАХ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020824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4128" y="19659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«Возьми методику из заметок и посчитай подачу на зуб» → модель находит заметку, считает инструментом и показывает ход расчёта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752344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752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24128" y="269748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Чужие личные заметки и события недоступны: ни через интерфейс, ни в обход его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483864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4128" y="34290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заметка одного бюро не видна другому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215384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41605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и удаление — только после подтверждения, в плашке написано, что именно меняется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946904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946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48920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Персональные данные закрываются до отправки в модель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678424"/>
            <a:ext cx="256032" cy="256032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678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24128" y="56235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выключенном интернете всё работает: установка тоже офлайн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1E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ПАСПОРТ ПРОЕКТА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 И ЭКОНОМИЧЕСКИЙ ЭФФЕКТ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126480" cy="45720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Целевой показатель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1691640"/>
            <a:ext cx="1280160" cy="45720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75320" y="1691640"/>
            <a:ext cx="1280160" cy="45720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0" y="16916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92640" y="1691640"/>
            <a:ext cx="1947672" cy="457200"/>
          </a:xfrm>
          <a:prstGeom prst="rect">
            <a:avLst/>
          </a:prstGeom>
          <a:solidFill>
            <a:srgbClr val="1E2A33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169164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Улучшение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612648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21284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искусственного интеллекта в замкнутом контуре, 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0" y="2212848"/>
            <a:ext cx="128016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21284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75320" y="2212848"/>
            <a:ext cx="128016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21284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92640" y="2212848"/>
            <a:ext cx="1947672" cy="658368"/>
          </a:xfrm>
          <a:prstGeom prst="rect">
            <a:avLst/>
          </a:prstGeom>
          <a:solidFill>
            <a:srgbClr val="FBEDEE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0" y="2212848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E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962656"/>
            <a:ext cx="612648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962656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времени на работу с документацией и типовые документы, ч. в год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0" y="2962656"/>
            <a:ext cx="128016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96265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3 644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75320" y="2962656"/>
            <a:ext cx="128016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96265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1 822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92640" y="2962656"/>
            <a:ext cx="1947672" cy="658368"/>
          </a:xfrm>
          <a:prstGeom prst="rect">
            <a:avLst/>
          </a:prstGeom>
          <a:solidFill>
            <a:srgbClr val="FBEDEE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29800" y="2962656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E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712464"/>
            <a:ext cx="612648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712464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Расчёты по методикам с проверяемым ходом вычислений, %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0" y="3712464"/>
            <a:ext cx="128016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71246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75320" y="3712464"/>
            <a:ext cx="128016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371246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92640" y="3712464"/>
            <a:ext cx="1947672" cy="658368"/>
          </a:xfrm>
          <a:prstGeom prst="rect">
            <a:avLst/>
          </a:prstGeom>
          <a:solidFill>
            <a:srgbClr val="FBEDEE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29800" y="3712464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E1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3840480" cy="1234440"/>
          </a:xfrm>
          <a:prstGeom prst="rect">
            <a:avLst/>
          </a:prstGeom>
          <a:solidFill>
            <a:srgbClr val="BE1E2D"/>
          </a:solidFill>
          <a:ln w="12700">
            <a:solidFill>
              <a:srgbClr val="BE1E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864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6D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ЭКОНОМИЧЕСКИЙ ЭФФЕКТ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" y="5120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1 365,6 тыс. руб.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77240" y="55595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год, Формула № 15 методики ОСК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4709160"/>
            <a:ext cx="3520440" cy="1234440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864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ЗАТРАТЫ НА ПРОЕКТ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5120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800600" y="555955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имеющиеся мощности, свободное ПО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75320" y="4709160"/>
            <a:ext cx="3364992" cy="1234440"/>
          </a:xfrm>
          <a:prstGeom prst="rect">
            <a:avLst/>
          </a:prstGeom>
          <a:solidFill>
            <a:srgbClr val="F4F6F7"/>
          </a:solidFill>
          <a:ln w="12700">
            <a:solidFill>
              <a:srgbClr val="D9DD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486460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503920" y="512064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01.10.2026 – 30.03.2027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8503920" y="55595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УТПП, УИТ · 5 задач, 15 мероприятий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48640"/>
            <a:ext cx="384048" cy="384048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48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69848" y="512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ОСК</a:t>
            </a:r>
            <a:endParaRPr lang="en-US" sz="1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750" spc="300" kern="0" dirty="0">
                <a:solidFill>
                  <a:srgbClr val="9F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АДМИРАЛТЕЙСКИЕ ВЕРФИ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EEF1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94360" y="2651760"/>
            <a:ext cx="274320" cy="274320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Опытная эксплуатация в бюро нормирования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93522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Наполнить справочник методик реальными формулами и собрать замечания от нормировщиков.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274320" cy="274320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4747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Нормативная документация предприятия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38039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действующие сборники и нормативы, чтобы выборки делались по ним, а не по памяти модели.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389120"/>
            <a:ext cx="274320" cy="274320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34340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Ускоритель для модели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6725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генерации на видеокарту: ответы за секунды и больше одновременных пользователей.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5257800"/>
            <a:ext cx="274320" cy="274320"/>
          </a:xfrm>
          <a:prstGeom prst="rect">
            <a:avLst/>
          </a:prstGeom>
          <a:solidFill>
            <a:srgbClr val="BE1E2D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5257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521208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Закрытие контура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55412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7C3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доступна только через интерфейс, обращение в обход — без пароля и журнала — становится невозможным.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6181344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Подробности — в полной презентации и паспорте проекта.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2026-09-07T20:09:04Z</dcterms:created>
  <dcterms:modified xsi:type="dcterms:W3CDTF">2026-09-07T20:09:04Z</dcterms:modified>
</cp:coreProperties>
</file>